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53F57-2484-7C72-9DCD-86E9D553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EA90DE-8A8C-3109-619B-92E448AF3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8A4407-03A3-4793-2840-123088B4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5373F7-BE74-F1F0-2960-E8698B5E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128502-2BDB-4E0B-1969-DB8BEBF5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52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CC743-8DF8-BFF5-23C1-78564736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669B11-D58E-6A00-66A4-5C80E4385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27DC67-4F66-8BE0-FD45-C0C72BC5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BAEF6D-F206-A5AA-EEA5-9AE3F5AC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FED8EC-E769-7BEB-83E6-411F00D5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81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22515-7EF4-D48A-37BF-86D166F5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74CB19-6F7E-93DD-B7EA-9E52B4F6E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04E233-5E2D-7471-197B-F2A4EC43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6C11C3-B59D-9B0F-C2B9-28E8C965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94E35C-9DBC-3A43-0505-EDE3982C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564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AEEF0-CA2A-9FD9-50FC-C10ECABD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E82B7B-E3DC-7E8B-C725-33ED74A21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6D352D-12A9-D124-0772-3C30B1083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27A797-1501-5002-D3A1-38F84514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F2D71A-CF1E-3F54-D210-4057F758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DC87A9-C12A-EED5-E23B-BB3DF5BB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81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1DE6B-9A1D-EDD1-9471-6F7CE98E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4AD1E5-06C5-E1C0-7D62-62A96A7A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20D861-9B1C-011F-B28D-A879477C4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17342C-318B-4061-FB3C-2FDDABED1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11769D2-CAF5-4BDB-C21D-819BEB5F5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A47EAAC-A8E8-1F3F-F3F9-63976190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21F6F4A-974C-DC0D-5495-8161FDAF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C9D9A3-D4FA-5A5D-6352-D89BA593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09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0F66E-5A40-EF96-AC86-37ADCE4F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D50E45-1C5E-BA64-6CFB-9AB283B1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00D76C-416A-0DA4-7118-0235B0E7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1FB3DF-B6BB-4E35-F206-5F6D1ED4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59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CE2A20-386B-B808-0EF1-CA19F07B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46D705-6AC0-5D4B-888F-904CDE2B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6C7C52-56D8-D662-06EF-05AB65EE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03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0B8B5-012C-E7F6-0A0F-0D34CAC9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0F2786-97F2-9600-E86C-607A900E4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88CE2E-FEDC-6127-0F6F-93A4E658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F588B4-3125-A11C-2212-113E222F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F8A42E-6D07-BB92-EC8D-5017C0F2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DE6DEA-958C-682F-43F1-D9F6B5EC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08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C1D67-AD2A-602E-46D0-58CF7B3B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533A5D0-3A5A-C286-2F19-5BD836216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EDBB50-19A1-2B9D-4C66-D3C60A5E9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2058E1-B99C-83D2-D0A5-F9766A5E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0E26C9-5EB1-9E02-6DAA-A22F8142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D9008B-2700-C6A1-1F83-38735F78B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53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8A329-EF60-08EE-C99F-C034809C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D39B8B-7068-BBDB-79BD-6463BD877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2C97FE-3841-61CD-12F5-BE050F40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2BF00-17C6-0CF9-DD78-60E1CDA3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6AF62F-726E-9E0C-7EBA-6F57CBA2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86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8130B1-4EF0-CDC2-DC59-98A49B34D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C2D48-68C6-F682-EBAE-8ECEAA99F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D1676-AE28-AC85-6CEC-7A9796AC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889B53-A99F-5DCA-C7C0-5F4F5975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0B8258-A9F5-4E32-4190-35507EC5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87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E5154A-0ED4-CA4D-695A-FF7AF1C9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B701A7-BAD7-8A80-5417-9AD3B881B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596B22-A1AE-B930-4E26-2B976F896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58AD4-DDEC-478E-AFFE-CD7BC81853F2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5A37E4-C57D-940D-93DA-1379162E8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B8B78E-20CC-C1D1-EE61-AA89A9254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A0FD1-CA21-4D33-AC30-3BF1ED70529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43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62853-5C46-C19A-E845-ABFAAA38B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6880"/>
            <a:ext cx="9144000" cy="2387600"/>
          </a:xfrm>
        </p:spPr>
        <p:txBody>
          <a:bodyPr/>
          <a:lstStyle/>
          <a:p>
            <a:r>
              <a:t>Digital Wardrobe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0DF490-EBD3-7536-2E87-24B369286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004" y="4032690"/>
            <a:ext cx="2905328" cy="1655762"/>
          </a:xfrm>
        </p:spPr>
        <p:txBody>
          <a:bodyPr/>
          <a:lstStyle/>
          <a:p>
            <a:r>
              <a:t>Romano Brentani</a:t>
            </a:r>
          </a:p>
          <a:p>
            <a:r>
              <a:t>University of Bern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22836527-E389-4449-465E-1C94CC3FE6DA}"/>
              </a:ext>
            </a:extLst>
          </p:cNvPr>
          <p:cNvSpPr txBox="1">
            <a:spLocks/>
          </p:cNvSpPr>
          <p:nvPr/>
        </p:nvSpPr>
        <p:spPr>
          <a:xfrm>
            <a:off x="4643336" y="4032690"/>
            <a:ext cx="29053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Viola Meier</a:t>
            </a:r>
          </a:p>
          <a:p>
            <a:r>
              <a:t>University of Bern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CF07445D-D924-F7DE-1FCD-1E5E73A09858}"/>
              </a:ext>
            </a:extLst>
          </p:cNvPr>
          <p:cNvSpPr txBox="1">
            <a:spLocks/>
          </p:cNvSpPr>
          <p:nvPr/>
        </p:nvSpPr>
        <p:spPr>
          <a:xfrm>
            <a:off x="8417668" y="4032690"/>
            <a:ext cx="29053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Isabelle Bustamante</a:t>
            </a:r>
          </a:p>
          <a:p>
            <a:r>
              <a:t>University of Fribourg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5303520"/>
            <a:ext cx="164592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D5712E-3525-3770-9A54-796382BE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t>Goal and Motivation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4D7BA05-3469-65DC-AC37-E271FA132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099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Goal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Three-stage pipeline for fashion item recognition</a:t>
            </a:r>
          </a:p>
          <a:p>
            <a:pPr marL="0" indent="0">
              <a:buNone/>
            </a:pPr>
            <a:r>
              <a:rPr dirty="0"/>
              <a:t>Detect items  →  classify type  →  predict attributes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23C49E-C332-EE90-2743-6B79929C30F7}"/>
              </a:ext>
            </a:extLst>
          </p:cNvPr>
          <p:cNvSpPr/>
          <p:nvPr/>
        </p:nvSpPr>
        <p:spPr>
          <a:xfrm>
            <a:off x="-12527" y="6494292"/>
            <a:ext cx="5002654" cy="369971"/>
          </a:xfrm>
          <a:prstGeom prst="rect">
            <a:avLst/>
          </a:prstGeom>
          <a:solidFill>
            <a:srgbClr val="203A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4CD3C99-600A-9428-7E01-8851ACCA1E65}"/>
              </a:ext>
            </a:extLst>
          </p:cNvPr>
          <p:cNvSpPr/>
          <p:nvPr/>
        </p:nvSpPr>
        <p:spPr>
          <a:xfrm>
            <a:off x="7069870" y="6494292"/>
            <a:ext cx="5128392" cy="369971"/>
          </a:xfrm>
          <a:prstGeom prst="rect">
            <a:avLst/>
          </a:prstGeom>
          <a:solidFill>
            <a:srgbClr val="FF0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E63DB91-5819-6F8D-8DAA-5B36671695AA}"/>
              </a:ext>
            </a:extLst>
          </p:cNvPr>
          <p:cNvSpPr/>
          <p:nvPr/>
        </p:nvSpPr>
        <p:spPr>
          <a:xfrm>
            <a:off x="4990127" y="6494292"/>
            <a:ext cx="2079743" cy="369971"/>
          </a:xfrm>
          <a:prstGeom prst="rect">
            <a:avLst/>
          </a:prstGeom>
          <a:gradFill flip="none" rotWithShape="1">
            <a:gsLst>
              <a:gs pos="50000">
                <a:srgbClr val="820924">
                  <a:alpha val="70000"/>
                </a:srgbClr>
              </a:gs>
              <a:gs pos="0">
                <a:srgbClr val="FF0A3B">
                  <a:alpha val="50000"/>
                </a:srgbClr>
              </a:gs>
              <a:gs pos="100000">
                <a:srgbClr val="203A5D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7D20004-A543-401B-2510-FD4216AC0225}"/>
              </a:ext>
            </a:extLst>
          </p:cNvPr>
          <p:cNvSpPr txBox="1"/>
          <p:nvPr/>
        </p:nvSpPr>
        <p:spPr>
          <a:xfrm>
            <a:off x="11405731" y="6513183"/>
            <a:ext cx="559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9506026-FDC1-FD08-9D05-18106CEC9ADB}"/>
              </a:ext>
            </a:extLst>
          </p:cNvPr>
          <p:cNvSpPr txBox="1"/>
          <p:nvPr/>
        </p:nvSpPr>
        <p:spPr>
          <a:xfrm>
            <a:off x="226799" y="6513183"/>
            <a:ext cx="4513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Bern – Deep Learning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1649C3BF-FB33-EEF4-386C-C4FBF835206F}"/>
              </a:ext>
            </a:extLst>
          </p:cNvPr>
          <p:cNvSpPr txBox="1"/>
          <p:nvPr/>
        </p:nvSpPr>
        <p:spPr>
          <a:xfrm>
            <a:off x="7319278" y="6513183"/>
            <a:ext cx="385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C2604F09-E680-E95B-41A9-6BEBD7625DC7}"/>
              </a:ext>
            </a:extLst>
          </p:cNvPr>
          <p:cNvSpPr txBox="1">
            <a:spLocks/>
          </p:cNvSpPr>
          <p:nvPr/>
        </p:nvSpPr>
        <p:spPr>
          <a:xfrm>
            <a:off x="6096000" y="1813099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t>Motivation</a:t>
            </a:r>
          </a:p>
          <a:p>
            <a:pPr marL="0" indent="0">
              <a:buFont typeface="Arial" panose="020B0604020202020204" pitchFamily="34" charset="0"/>
              <a:buNone/>
            </a:pP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t>Manual product tagging is costly and inconsistent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t>Deep learning enables scalable automated analysis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577840"/>
            <a:ext cx="11887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33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189E-C7DA-32AA-3823-0F52386E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5365C-C3F1-AC36-B565-659E390E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t>Challenges and Prior Work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337FD47-9DF2-99B5-B42C-3356E2064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099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Challenges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Ambiguous categories (e.g. skirt vs. short dress)</a:t>
            </a:r>
          </a:p>
          <a:p>
            <a:pPr marL="0" indent="0">
              <a:buNone/>
            </a:pPr>
            <a:r>
              <a:rPr dirty="0"/>
              <a:t>Pose and lighting variation across images</a:t>
            </a:r>
          </a:p>
          <a:p>
            <a:pPr marL="0" indent="0">
              <a:buNone/>
            </a:pPr>
            <a:r>
              <a:rPr dirty="0"/>
              <a:t>Amin et al.: 300k images + 30 experts for attribute labels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9ECF5D-110D-6167-5AF4-463535B0BF88}"/>
              </a:ext>
            </a:extLst>
          </p:cNvPr>
          <p:cNvSpPr/>
          <p:nvPr/>
        </p:nvSpPr>
        <p:spPr>
          <a:xfrm>
            <a:off x="-12527" y="6494292"/>
            <a:ext cx="5002654" cy="369971"/>
          </a:xfrm>
          <a:prstGeom prst="rect">
            <a:avLst/>
          </a:prstGeom>
          <a:solidFill>
            <a:srgbClr val="203A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B35CAB2-4496-7817-F566-4AD610001BD9}"/>
              </a:ext>
            </a:extLst>
          </p:cNvPr>
          <p:cNvSpPr/>
          <p:nvPr/>
        </p:nvSpPr>
        <p:spPr>
          <a:xfrm>
            <a:off x="7069870" y="6494292"/>
            <a:ext cx="5128392" cy="369971"/>
          </a:xfrm>
          <a:prstGeom prst="rect">
            <a:avLst/>
          </a:prstGeom>
          <a:solidFill>
            <a:srgbClr val="FF0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922E1C-1BC9-39F6-FFC9-E52894B6AD84}"/>
              </a:ext>
            </a:extLst>
          </p:cNvPr>
          <p:cNvSpPr/>
          <p:nvPr/>
        </p:nvSpPr>
        <p:spPr>
          <a:xfrm>
            <a:off x="4990127" y="6494292"/>
            <a:ext cx="2079743" cy="369971"/>
          </a:xfrm>
          <a:prstGeom prst="rect">
            <a:avLst/>
          </a:prstGeom>
          <a:gradFill flip="none" rotWithShape="1">
            <a:gsLst>
              <a:gs pos="50000">
                <a:srgbClr val="820924">
                  <a:alpha val="70000"/>
                </a:srgbClr>
              </a:gs>
              <a:gs pos="0">
                <a:srgbClr val="FF0A3B">
                  <a:alpha val="50000"/>
                </a:srgbClr>
              </a:gs>
              <a:gs pos="100000">
                <a:srgbClr val="203A5D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D50387C3-71E5-1EAC-233D-CDDA4E4CA907}"/>
              </a:ext>
            </a:extLst>
          </p:cNvPr>
          <p:cNvSpPr txBox="1"/>
          <p:nvPr/>
        </p:nvSpPr>
        <p:spPr>
          <a:xfrm>
            <a:off x="11405731" y="6513183"/>
            <a:ext cx="559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C6B3B27-5984-6084-6CAF-3BC5FE772D99}"/>
              </a:ext>
            </a:extLst>
          </p:cNvPr>
          <p:cNvSpPr txBox="1"/>
          <p:nvPr/>
        </p:nvSpPr>
        <p:spPr>
          <a:xfrm>
            <a:off x="226799" y="6513183"/>
            <a:ext cx="4513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Bern – Deep Learning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B2FF9788-B37D-DFA8-34D4-04F486B70C57}"/>
              </a:ext>
            </a:extLst>
          </p:cNvPr>
          <p:cNvSpPr txBox="1"/>
          <p:nvPr/>
        </p:nvSpPr>
        <p:spPr>
          <a:xfrm>
            <a:off x="7319278" y="6513183"/>
            <a:ext cx="385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4BB3433A-2609-42C7-C879-7DC0480B1ED9}"/>
              </a:ext>
            </a:extLst>
          </p:cNvPr>
          <p:cNvSpPr txBox="1">
            <a:spLocks/>
          </p:cNvSpPr>
          <p:nvPr/>
        </p:nvSpPr>
        <p:spPr>
          <a:xfrm>
            <a:off x="6096000" y="1813099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t>Prior Work</a:t>
            </a:r>
          </a:p>
          <a:p>
            <a:pPr marL="0" indent="0">
              <a:buFont typeface="Arial" panose="020B0604020202020204" pitchFamily="34" charset="0"/>
              <a:buNone/>
            </a:pPr>
            <a:endParaRPr/>
          </a:p>
          <a:p>
            <a:pPr marL="0" indent="0">
              <a:buFont typeface="Arial" panose="020B0604020202020204" pitchFamily="34" charset="0"/>
              <a:buNone/>
            </a:pPr>
            <a:r>
              <a:t>Classification, detection, landmark localization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t>Attribute prediction typically on pre-cropped images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t>Few works combine all three stages in one pipeline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577840"/>
            <a:ext cx="11887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156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0B88-40D8-1167-9A29-3D78E220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24F0B-94EB-0533-302A-7F1D7914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t>Method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701ED6A-7184-6D7F-F796-ADCA81B50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634"/>
            <a:ext cx="10567531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Stage 1</a:t>
            </a:r>
            <a:r>
              <a:rPr lang="de-CH" dirty="0"/>
              <a:t>: </a:t>
            </a:r>
            <a:r>
              <a:rPr dirty="0"/>
              <a:t>Object Detection</a:t>
            </a:r>
          </a:p>
          <a:p>
            <a:pPr marL="0" indent="0">
              <a:buNone/>
            </a:pPr>
            <a:r>
              <a:rPr dirty="0"/>
              <a:t>  Faster R-CNN (ResNet50-FPN v2)</a:t>
            </a:r>
          </a:p>
          <a:p>
            <a:pPr marL="0" indent="0">
              <a:buNone/>
            </a:pPr>
            <a:r>
              <a:rPr dirty="0"/>
              <a:t>  COCO pre-trained → fine-tuned on DeepFashion2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Stage 2</a:t>
            </a:r>
            <a:r>
              <a:rPr lang="de-CH" dirty="0"/>
              <a:t>: </a:t>
            </a:r>
            <a:r>
              <a:rPr dirty="0"/>
              <a:t>Category Classification</a:t>
            </a:r>
          </a:p>
          <a:p>
            <a:pPr marL="0" indent="0">
              <a:buNone/>
            </a:pPr>
            <a:r>
              <a:rPr dirty="0"/>
              <a:t>  EfficientNet-B1, staged fine-tuning, 13 categories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Stage 3</a:t>
            </a:r>
            <a:r>
              <a:rPr lang="de-CH" dirty="0"/>
              <a:t>: </a:t>
            </a:r>
            <a:r>
              <a:rPr dirty="0"/>
              <a:t> Attribute Prediction</a:t>
            </a:r>
          </a:p>
          <a:p>
            <a:pPr marL="0" indent="0">
              <a:buNone/>
            </a:pPr>
            <a:r>
              <a:rPr dirty="0"/>
              <a:t>  EfficientNet-B0, 6-head multi-head (26 dims)</a:t>
            </a:r>
          </a:p>
          <a:p>
            <a:pPr marL="0" indent="0">
              <a:buNone/>
            </a:pPr>
            <a:r>
              <a:rPr dirty="0"/>
              <a:t>  Weighted cross-entropy for class imbalance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BEFEFC-CE5D-5C54-78B9-702825669481}"/>
              </a:ext>
            </a:extLst>
          </p:cNvPr>
          <p:cNvSpPr/>
          <p:nvPr/>
        </p:nvSpPr>
        <p:spPr>
          <a:xfrm>
            <a:off x="-12527" y="6494292"/>
            <a:ext cx="5002654" cy="369971"/>
          </a:xfrm>
          <a:prstGeom prst="rect">
            <a:avLst/>
          </a:prstGeom>
          <a:solidFill>
            <a:srgbClr val="203A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D1DFFD4-56DB-C7D5-084A-3AED024C7B81}"/>
              </a:ext>
            </a:extLst>
          </p:cNvPr>
          <p:cNvSpPr/>
          <p:nvPr/>
        </p:nvSpPr>
        <p:spPr>
          <a:xfrm>
            <a:off x="7069870" y="6494292"/>
            <a:ext cx="5128392" cy="369971"/>
          </a:xfrm>
          <a:prstGeom prst="rect">
            <a:avLst/>
          </a:prstGeom>
          <a:solidFill>
            <a:srgbClr val="FF0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1D34F92-D9AC-1A4F-45F1-623B2FAD7554}"/>
              </a:ext>
            </a:extLst>
          </p:cNvPr>
          <p:cNvSpPr/>
          <p:nvPr/>
        </p:nvSpPr>
        <p:spPr>
          <a:xfrm>
            <a:off x="4990127" y="6494292"/>
            <a:ext cx="2079743" cy="369971"/>
          </a:xfrm>
          <a:prstGeom prst="rect">
            <a:avLst/>
          </a:prstGeom>
          <a:gradFill flip="none" rotWithShape="1">
            <a:gsLst>
              <a:gs pos="50000">
                <a:srgbClr val="820924">
                  <a:alpha val="70000"/>
                </a:srgbClr>
              </a:gs>
              <a:gs pos="0">
                <a:srgbClr val="FF0A3B">
                  <a:alpha val="50000"/>
                </a:srgbClr>
              </a:gs>
              <a:gs pos="100000">
                <a:srgbClr val="203A5D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5FFB8FE-4A45-330A-EE88-88121C81C6AA}"/>
              </a:ext>
            </a:extLst>
          </p:cNvPr>
          <p:cNvSpPr txBox="1"/>
          <p:nvPr/>
        </p:nvSpPr>
        <p:spPr>
          <a:xfrm>
            <a:off x="11405731" y="6513183"/>
            <a:ext cx="559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2FC864A-CB8A-B53F-9FF4-2E8568666D54}"/>
              </a:ext>
            </a:extLst>
          </p:cNvPr>
          <p:cNvSpPr txBox="1"/>
          <p:nvPr/>
        </p:nvSpPr>
        <p:spPr>
          <a:xfrm>
            <a:off x="226799" y="6513183"/>
            <a:ext cx="4513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Bern – Deep Learning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6891260D-646C-605B-1704-F71626838D8E}"/>
              </a:ext>
            </a:extLst>
          </p:cNvPr>
          <p:cNvSpPr txBox="1"/>
          <p:nvPr/>
        </p:nvSpPr>
        <p:spPr>
          <a:xfrm>
            <a:off x="7319278" y="6513183"/>
            <a:ext cx="385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577840"/>
            <a:ext cx="11887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62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D79B-46B2-844A-28C7-ADB09BDC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0CFC39-5093-D08E-C205-8DA496E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Experiments and Evaluations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AD7D9A-7680-0F17-22B3-EE2F7DE48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5056" y="1746645"/>
            <a:ext cx="587094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CH" dirty="0"/>
              <a:t>Classification</a:t>
            </a:r>
            <a:r>
              <a:rPr dirty="0"/>
              <a:t>  (5,000 test images)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 Baseline:        21.4%  E</a:t>
            </a:r>
            <a:r>
              <a:rPr lang="de-CH" dirty="0"/>
              <a:t>M</a:t>
            </a:r>
            <a:r>
              <a:rPr dirty="0"/>
              <a:t>   51.2% </a:t>
            </a:r>
            <a:r>
              <a:rPr lang="de-CH" dirty="0"/>
              <a:t> </a:t>
            </a:r>
            <a:r>
              <a:rPr lang="de-CH" dirty="0" err="1"/>
              <a:t>Cov</a:t>
            </a:r>
            <a:r>
              <a:rPr lang="de-CH" dirty="0"/>
              <a:t>.</a:t>
            </a:r>
            <a:endParaRPr dirty="0"/>
          </a:p>
          <a:p>
            <a:pPr marL="0" indent="0">
              <a:buNone/>
            </a:pPr>
            <a:r>
              <a:rPr dirty="0"/>
              <a:t>  Fine-Tuned:      32.0%  EM   68.5%  Cov.</a:t>
            </a:r>
          </a:p>
          <a:p>
            <a:pPr marL="0" indent="0">
              <a:buNone/>
            </a:pPr>
            <a:r>
              <a:rPr dirty="0"/>
              <a:t>  FT + DA (best):  33.4%  EM   69.6%  Cov.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Attributes  (5</a:t>
            </a:r>
            <a:r>
              <a:rPr lang="de-CH" dirty="0"/>
              <a:t>,997</a:t>
            </a:r>
            <a:r>
              <a:rPr dirty="0"/>
              <a:t> test images)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 Mean accuracy  84.4%</a:t>
            </a:r>
          </a:p>
          <a:p>
            <a:pPr marL="0" indent="0">
              <a:buNone/>
            </a:pPr>
            <a:r>
              <a:rPr dirty="0"/>
              <a:t>  Best: Sleeve 94.1%,  Length 93.8%</a:t>
            </a:r>
          </a:p>
          <a:p>
            <a:pPr marL="0" indent="0">
              <a:buNone/>
            </a:pPr>
            <a:r>
              <a:rPr dirty="0"/>
              <a:t>  Weakest: Fabric 74.3%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1AC8C4-F914-8E5C-FDA2-2D53E0867E5E}"/>
              </a:ext>
            </a:extLst>
          </p:cNvPr>
          <p:cNvSpPr/>
          <p:nvPr/>
        </p:nvSpPr>
        <p:spPr>
          <a:xfrm>
            <a:off x="-12527" y="6494292"/>
            <a:ext cx="5002654" cy="369971"/>
          </a:xfrm>
          <a:prstGeom prst="rect">
            <a:avLst/>
          </a:prstGeom>
          <a:solidFill>
            <a:srgbClr val="203A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5A79999-81B5-593C-2195-47EFEC41FA24}"/>
              </a:ext>
            </a:extLst>
          </p:cNvPr>
          <p:cNvSpPr/>
          <p:nvPr/>
        </p:nvSpPr>
        <p:spPr>
          <a:xfrm>
            <a:off x="7069870" y="6494292"/>
            <a:ext cx="5128392" cy="369971"/>
          </a:xfrm>
          <a:prstGeom prst="rect">
            <a:avLst/>
          </a:prstGeom>
          <a:solidFill>
            <a:srgbClr val="FF0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C32BA94-A604-FF53-7046-6C2DB68A1D1A}"/>
              </a:ext>
            </a:extLst>
          </p:cNvPr>
          <p:cNvSpPr/>
          <p:nvPr/>
        </p:nvSpPr>
        <p:spPr>
          <a:xfrm>
            <a:off x="4990127" y="6494292"/>
            <a:ext cx="2079743" cy="369971"/>
          </a:xfrm>
          <a:prstGeom prst="rect">
            <a:avLst/>
          </a:prstGeom>
          <a:gradFill flip="none" rotWithShape="1">
            <a:gsLst>
              <a:gs pos="50000">
                <a:srgbClr val="820924">
                  <a:alpha val="70000"/>
                </a:srgbClr>
              </a:gs>
              <a:gs pos="0">
                <a:srgbClr val="FF0A3B">
                  <a:alpha val="50000"/>
                </a:srgbClr>
              </a:gs>
              <a:gs pos="100000">
                <a:srgbClr val="203A5D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6A03C3C-71BF-682C-0838-DF41AAF7807F}"/>
              </a:ext>
            </a:extLst>
          </p:cNvPr>
          <p:cNvSpPr txBox="1"/>
          <p:nvPr/>
        </p:nvSpPr>
        <p:spPr>
          <a:xfrm>
            <a:off x="11405731" y="6513183"/>
            <a:ext cx="559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9F26B5D-8D33-2A80-9F6C-A93C5A1476DD}"/>
              </a:ext>
            </a:extLst>
          </p:cNvPr>
          <p:cNvSpPr txBox="1"/>
          <p:nvPr/>
        </p:nvSpPr>
        <p:spPr>
          <a:xfrm>
            <a:off x="226799" y="6513183"/>
            <a:ext cx="4513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Bern – Deep Learning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B968A530-4FC6-D367-15A5-F7F1E5F8EF3B}"/>
              </a:ext>
            </a:extLst>
          </p:cNvPr>
          <p:cNvSpPr txBox="1"/>
          <p:nvPr/>
        </p:nvSpPr>
        <p:spPr>
          <a:xfrm>
            <a:off x="7319278" y="6513183"/>
            <a:ext cx="385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 descr="pipelin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361" y="1609110"/>
            <a:ext cx="5357916" cy="407129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577840"/>
            <a:ext cx="11887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6E0B4-A3C9-2FA0-FAA4-BFA843CF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1F572-6C31-AE75-FBF0-3481AB4D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Conclusion and Future Work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B6D4C9-3475-832E-38BA-7B14118298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Conclusion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Future Work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Evaluate on detector-predicted crops</a:t>
            </a:r>
          </a:p>
          <a:p>
            <a:pPr marL="0" indent="0">
              <a:buNone/>
            </a:pPr>
            <a:r>
              <a:rPr dirty="0"/>
              <a:t>Reduce duplicate detections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AAA95-0B67-D250-399E-6C8E9A3796A9}"/>
              </a:ext>
            </a:extLst>
          </p:cNvPr>
          <p:cNvSpPr/>
          <p:nvPr/>
        </p:nvSpPr>
        <p:spPr>
          <a:xfrm>
            <a:off x="-12527" y="6494292"/>
            <a:ext cx="5002654" cy="369971"/>
          </a:xfrm>
          <a:prstGeom prst="rect">
            <a:avLst/>
          </a:prstGeom>
          <a:solidFill>
            <a:srgbClr val="203A5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AE45D75-09BE-9669-8F43-A334A9BD441B}"/>
              </a:ext>
            </a:extLst>
          </p:cNvPr>
          <p:cNvSpPr/>
          <p:nvPr/>
        </p:nvSpPr>
        <p:spPr>
          <a:xfrm>
            <a:off x="7069870" y="6494292"/>
            <a:ext cx="5128392" cy="369971"/>
          </a:xfrm>
          <a:prstGeom prst="rect">
            <a:avLst/>
          </a:prstGeom>
          <a:solidFill>
            <a:srgbClr val="FF0A3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8CE9C81-CC7B-0D05-2588-E5C78BC2B236}"/>
              </a:ext>
            </a:extLst>
          </p:cNvPr>
          <p:cNvSpPr/>
          <p:nvPr/>
        </p:nvSpPr>
        <p:spPr>
          <a:xfrm>
            <a:off x="4990127" y="6494292"/>
            <a:ext cx="2079743" cy="369971"/>
          </a:xfrm>
          <a:prstGeom prst="rect">
            <a:avLst/>
          </a:prstGeom>
          <a:gradFill flip="none" rotWithShape="1">
            <a:gsLst>
              <a:gs pos="50000">
                <a:srgbClr val="820924">
                  <a:alpha val="70000"/>
                </a:srgbClr>
              </a:gs>
              <a:gs pos="0">
                <a:srgbClr val="FF0A3B">
                  <a:alpha val="50000"/>
                </a:srgbClr>
              </a:gs>
              <a:gs pos="100000">
                <a:srgbClr val="203A5D">
                  <a:alpha val="8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D8A6460-5180-2C35-B30B-605F30471CDC}"/>
              </a:ext>
            </a:extLst>
          </p:cNvPr>
          <p:cNvSpPr txBox="1"/>
          <p:nvPr/>
        </p:nvSpPr>
        <p:spPr>
          <a:xfrm>
            <a:off x="11405731" y="6513183"/>
            <a:ext cx="559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DAB7939-AF67-C731-2C63-09086E9EA15F}"/>
              </a:ext>
            </a:extLst>
          </p:cNvPr>
          <p:cNvSpPr txBox="1"/>
          <p:nvPr/>
        </p:nvSpPr>
        <p:spPr>
          <a:xfrm>
            <a:off x="226799" y="6513183"/>
            <a:ext cx="4513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Bern – Deep Learning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F647AF8F-0ED4-29B8-E0F1-044308750EF1}"/>
              </a:ext>
            </a:extLst>
          </p:cNvPr>
          <p:cNvSpPr txBox="1"/>
          <p:nvPr/>
        </p:nvSpPr>
        <p:spPr>
          <a:xfrm>
            <a:off x="7319278" y="6513183"/>
            <a:ext cx="385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 descr="demo_187050.png"/>
          <p:cNvPicPr>
            <a:picLocks noChangeAspect="1"/>
          </p:cNvPicPr>
          <p:nvPr/>
        </p:nvPicPr>
        <p:blipFill>
          <a:blip r:embed="rId2"/>
          <a:srcRect t="13689"/>
          <a:stretch>
            <a:fillRect/>
          </a:stretch>
        </p:blipFill>
        <p:spPr>
          <a:xfrm>
            <a:off x="5884714" y="1508296"/>
            <a:ext cx="6080486" cy="428487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577840"/>
            <a:ext cx="11887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5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281</Words>
  <Application>Microsoft Macintosh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Digital Wardrobe</vt:lpstr>
      <vt:lpstr>Goal and Motivation</vt:lpstr>
      <vt:lpstr>Challenges and Prior Work</vt:lpstr>
      <vt:lpstr>Method</vt:lpstr>
      <vt:lpstr>Experiments and Evaluations 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Scharr</dc:creator>
  <cp:lastModifiedBy>BUSTAMANTE Isabelle</cp:lastModifiedBy>
  <cp:revision>2</cp:revision>
  <dcterms:created xsi:type="dcterms:W3CDTF">2026-04-28T14:03:42Z</dcterms:created>
  <dcterms:modified xsi:type="dcterms:W3CDTF">2026-05-12T10:22:32Z</dcterms:modified>
</cp:coreProperties>
</file>